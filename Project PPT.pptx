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58" r:id="rId3"/>
    <p:sldId id="259" r:id="rId4"/>
    <p:sldId id="260" r:id="rId5"/>
    <p:sldId id="261" r:id="rId6"/>
    <p:sldId id="262" r:id="rId7"/>
    <p:sldId id="264" r:id="rId8"/>
    <p:sldId id="265"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4/10/2026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link.springer.com/article/10.1186/s40537-021-00553-4" TargetMode="External"/><Relationship Id="rId2" Type="http://schemas.openxmlformats.org/officeDocument/2006/relationships/hyperlink" Target="https://ieeexplore.ieee.org/document/8486794" TargetMode="External"/><Relationship Id="rId1" Type="http://schemas.openxmlformats.org/officeDocument/2006/relationships/slideLayout" Target="../slideLayouts/slideLayout2.xml"/><Relationship Id="rId4" Type="http://schemas.openxmlformats.org/officeDocument/2006/relationships/hyperlink" Target="https://link.springer.com/article/10.1186/s43067-024-00190-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E23E-5AE5-4A1F-AF53-9671DC1AF55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Big Data Analytics for Healthcare Industry</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Project Review - 2</a:t>
            </a:r>
            <a:endParaRPr lang="en-IN" sz="2400" b="1" dirty="0"/>
          </a:p>
        </p:txBody>
      </p:sp>
      <p:sp>
        <p:nvSpPr>
          <p:cNvPr id="3" name="Content Placeholder 2">
            <a:extLst>
              <a:ext uri="{FF2B5EF4-FFF2-40B4-BE49-F238E27FC236}">
                <a16:creationId xmlns:a16="http://schemas.microsoft.com/office/drawing/2014/main" id="{E75D1779-710C-4035-BB6E-04D31A3691DA}"/>
              </a:ext>
            </a:extLst>
          </p:cNvPr>
          <p:cNvSpPr>
            <a:spLocks noGrp="1"/>
          </p:cNvSpPr>
          <p:nvPr>
            <p:ph idx="1"/>
          </p:nvPr>
        </p:nvSpPr>
        <p:spPr>
          <a:xfrm>
            <a:off x="2279161" y="1905000"/>
            <a:ext cx="8915400" cy="3777622"/>
          </a:xfrm>
        </p:spPr>
        <p:txBody>
          <a:bodyPr/>
          <a:lstStyle/>
          <a:p>
            <a:pPr marL="0" indent="0">
              <a:buNone/>
            </a:pPr>
            <a:r>
              <a:rPr lang="en-US" dirty="0"/>
              <a:t>      </a:t>
            </a:r>
            <a:r>
              <a:rPr lang="en-US" b="1" dirty="0"/>
              <a:t>Team Members</a:t>
            </a:r>
            <a:r>
              <a:rPr lang="en-US" dirty="0"/>
              <a:t>:</a:t>
            </a:r>
          </a:p>
          <a:p>
            <a:r>
              <a:rPr lang="en-US" dirty="0"/>
              <a:t>Angelina RC – 2320030428</a:t>
            </a:r>
          </a:p>
          <a:p>
            <a:r>
              <a:rPr lang="en-US" dirty="0"/>
              <a:t>Vaishnavi A - 2320030450</a:t>
            </a:r>
          </a:p>
          <a:p>
            <a:r>
              <a:rPr lang="en-US" dirty="0" err="1"/>
              <a:t>LakshmiPriya</a:t>
            </a:r>
            <a:r>
              <a:rPr lang="en-US" dirty="0"/>
              <a:t> K - 2320030453</a:t>
            </a:r>
          </a:p>
          <a:p>
            <a:r>
              <a:rPr lang="en-US" dirty="0" err="1"/>
              <a:t>Mahati</a:t>
            </a:r>
            <a:r>
              <a:rPr lang="en-US" dirty="0"/>
              <a:t> M – 2320030401</a:t>
            </a:r>
          </a:p>
          <a:p>
            <a:pPr marL="0" indent="0">
              <a:buNone/>
            </a:pPr>
            <a:endParaRPr lang="en-US" dirty="0"/>
          </a:p>
          <a:p>
            <a:pPr marL="0" indent="0">
              <a:buNone/>
            </a:pPr>
            <a:r>
              <a:rPr lang="en-IN" dirty="0"/>
              <a:t>      </a:t>
            </a:r>
            <a:r>
              <a:rPr lang="en-IN" b="1" dirty="0"/>
              <a:t>Guide</a:t>
            </a:r>
            <a:r>
              <a:rPr lang="en-IN" dirty="0"/>
              <a:t>: Mr. </a:t>
            </a:r>
            <a:r>
              <a:rPr lang="en-IN" dirty="0" err="1"/>
              <a:t>Venkateswara</a:t>
            </a:r>
            <a:r>
              <a:rPr lang="en-IN" dirty="0"/>
              <a:t> K</a:t>
            </a:r>
          </a:p>
          <a:p>
            <a:endParaRPr lang="en-US" dirty="0"/>
          </a:p>
          <a:p>
            <a:endParaRPr lang="en-IN" dirty="0"/>
          </a:p>
        </p:txBody>
      </p:sp>
    </p:spTree>
    <p:extLst>
      <p:ext uri="{BB962C8B-B14F-4D97-AF65-F5344CB8AC3E}">
        <p14:creationId xmlns:p14="http://schemas.microsoft.com/office/powerpoint/2010/main" val="83471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8266-AD8C-4095-94CF-CB5A48666519}"/>
              </a:ext>
            </a:extLst>
          </p:cNvPr>
          <p:cNvSpPr>
            <a:spLocks noGrp="1"/>
          </p:cNvSpPr>
          <p:nvPr>
            <p:ph type="title"/>
          </p:nvPr>
        </p:nvSpPr>
        <p:spPr/>
        <p:txBody>
          <a:bodyPr/>
          <a:lstStyle/>
          <a:p>
            <a:r>
              <a:rPr lang="en-IN" dirty="0"/>
              <a:t>Introduction &amp; Motivation</a:t>
            </a:r>
          </a:p>
        </p:txBody>
      </p:sp>
      <p:sp>
        <p:nvSpPr>
          <p:cNvPr id="3" name="Content Placeholder 2">
            <a:extLst>
              <a:ext uri="{FF2B5EF4-FFF2-40B4-BE49-F238E27FC236}">
                <a16:creationId xmlns:a16="http://schemas.microsoft.com/office/drawing/2014/main" id="{5DA87ACA-C2CD-4F30-93D1-4EEA9F3BAF9F}"/>
              </a:ext>
            </a:extLst>
          </p:cNvPr>
          <p:cNvSpPr>
            <a:spLocks noGrp="1"/>
          </p:cNvSpPr>
          <p:nvPr>
            <p:ph idx="1"/>
          </p:nvPr>
        </p:nvSpPr>
        <p:spPr>
          <a:xfrm>
            <a:off x="2106707" y="2133600"/>
            <a:ext cx="6972856" cy="3777622"/>
          </a:xfrm>
        </p:spPr>
        <p:txBody>
          <a:bodyPr>
            <a:normAutofit/>
          </a:bodyPr>
          <a:lstStyle/>
          <a:p>
            <a:r>
              <a:rPr lang="en-US" dirty="0"/>
              <a:t>Heart disease is one of the leading causes of death worldwide. Early prediction of heart disease risk is crucial for timely medical intervention. However, traditional healthcare systems are not capable of efficiently analyzing large and complex datasets to identify risk patterns.</a:t>
            </a:r>
          </a:p>
          <a:p>
            <a:r>
              <a:rPr lang="en-US" dirty="0"/>
              <a:t>There is a need for a scalable system that can process large volumes of healthcare data and provide accurate predictions for heart disease risk.</a:t>
            </a:r>
          </a:p>
        </p:txBody>
      </p:sp>
      <p:pic>
        <p:nvPicPr>
          <p:cNvPr id="4" name="Picture 3">
            <a:extLst>
              <a:ext uri="{FF2B5EF4-FFF2-40B4-BE49-F238E27FC236}">
                <a16:creationId xmlns:a16="http://schemas.microsoft.com/office/drawing/2014/main" id="{76D241ED-C54D-4810-A644-B9C7DB61F607}"/>
              </a:ext>
            </a:extLst>
          </p:cNvPr>
          <p:cNvPicPr>
            <a:picLocks noChangeAspect="1"/>
          </p:cNvPicPr>
          <p:nvPr/>
        </p:nvPicPr>
        <p:blipFill>
          <a:blip r:embed="rId2"/>
          <a:stretch>
            <a:fillRect/>
          </a:stretch>
        </p:blipFill>
        <p:spPr>
          <a:xfrm>
            <a:off x="9079563" y="1905001"/>
            <a:ext cx="2969140" cy="3913094"/>
          </a:xfrm>
          <a:prstGeom prst="rect">
            <a:avLst/>
          </a:prstGeom>
        </p:spPr>
      </p:pic>
    </p:spTree>
    <p:extLst>
      <p:ext uri="{BB962C8B-B14F-4D97-AF65-F5344CB8AC3E}">
        <p14:creationId xmlns:p14="http://schemas.microsoft.com/office/powerpoint/2010/main" val="1267437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352C3-3A35-482D-A189-217B6BD9D2B9}"/>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3EE3EBFE-65CD-40B1-9E38-4F4CEE295CE3}"/>
              </a:ext>
            </a:extLst>
          </p:cNvPr>
          <p:cNvSpPr>
            <a:spLocks noGrp="1"/>
          </p:cNvSpPr>
          <p:nvPr>
            <p:ph idx="1"/>
          </p:nvPr>
        </p:nvSpPr>
        <p:spPr/>
        <p:txBody>
          <a:bodyPr/>
          <a:lstStyle/>
          <a:p>
            <a:r>
              <a:rPr lang="en-US" dirty="0"/>
              <a:t>To analyze large healthcare datasets related to heart disease</a:t>
            </a:r>
          </a:p>
          <a:p>
            <a:r>
              <a:rPr lang="en-US" dirty="0"/>
              <a:t>To build a predictive model for heart disease risk</a:t>
            </a:r>
          </a:p>
          <a:p>
            <a:r>
              <a:rPr lang="en-US" dirty="0"/>
              <a:t>To use big data technologies for efficient data processing</a:t>
            </a:r>
          </a:p>
          <a:p>
            <a:r>
              <a:rPr lang="en-IN" dirty="0"/>
              <a:t>Provide decision support for healthcare professionals</a:t>
            </a:r>
          </a:p>
          <a:p>
            <a:endParaRPr lang="en-IN" dirty="0"/>
          </a:p>
          <a:p>
            <a:endParaRPr lang="en-IN" dirty="0"/>
          </a:p>
        </p:txBody>
      </p:sp>
    </p:spTree>
    <p:extLst>
      <p:ext uri="{BB962C8B-B14F-4D97-AF65-F5344CB8AC3E}">
        <p14:creationId xmlns:p14="http://schemas.microsoft.com/office/powerpoint/2010/main" val="3338510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1044-8C12-4959-BEBA-5872D6B46982}"/>
              </a:ext>
            </a:extLst>
          </p:cNvPr>
          <p:cNvSpPr>
            <a:spLocks noGrp="1"/>
          </p:cNvSpPr>
          <p:nvPr>
            <p:ph type="title"/>
          </p:nvPr>
        </p:nvSpPr>
        <p:spPr/>
        <p:txBody>
          <a:bodyPr/>
          <a:lstStyle/>
          <a:p>
            <a:r>
              <a:rPr lang="en-IN" dirty="0"/>
              <a:t>Literature Survey</a:t>
            </a:r>
          </a:p>
        </p:txBody>
      </p:sp>
      <p:pic>
        <p:nvPicPr>
          <p:cNvPr id="4" name="Picture 3">
            <a:extLst>
              <a:ext uri="{FF2B5EF4-FFF2-40B4-BE49-F238E27FC236}">
                <a16:creationId xmlns:a16="http://schemas.microsoft.com/office/drawing/2014/main" id="{2DDE0E00-F451-4775-B324-4C9A96BAD7C8}"/>
              </a:ext>
            </a:extLst>
          </p:cNvPr>
          <p:cNvPicPr>
            <a:picLocks noChangeAspect="1"/>
          </p:cNvPicPr>
          <p:nvPr/>
        </p:nvPicPr>
        <p:blipFill>
          <a:blip r:embed="rId2"/>
          <a:stretch>
            <a:fillRect/>
          </a:stretch>
        </p:blipFill>
        <p:spPr>
          <a:xfrm>
            <a:off x="2459392" y="1393592"/>
            <a:ext cx="6896698" cy="4469326"/>
          </a:xfrm>
          <a:prstGeom prst="rect">
            <a:avLst/>
          </a:prstGeom>
        </p:spPr>
      </p:pic>
    </p:spTree>
    <p:extLst>
      <p:ext uri="{BB962C8B-B14F-4D97-AF65-F5344CB8AC3E}">
        <p14:creationId xmlns:p14="http://schemas.microsoft.com/office/powerpoint/2010/main" val="3475441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0266-0BDD-4EE2-827D-A36D869AF2C3}"/>
              </a:ext>
            </a:extLst>
          </p:cNvPr>
          <p:cNvSpPr>
            <a:spLocks noGrp="1"/>
          </p:cNvSpPr>
          <p:nvPr>
            <p:ph type="title"/>
          </p:nvPr>
        </p:nvSpPr>
        <p:spPr/>
        <p:txBody>
          <a:bodyPr/>
          <a:lstStyle/>
          <a:p>
            <a:r>
              <a:rPr lang="en-IN" dirty="0"/>
              <a:t>Proposed Methodology</a:t>
            </a:r>
          </a:p>
        </p:txBody>
      </p:sp>
      <p:sp>
        <p:nvSpPr>
          <p:cNvPr id="6" name="AutoShape 6" descr="Generated image">
            <a:extLst>
              <a:ext uri="{FF2B5EF4-FFF2-40B4-BE49-F238E27FC236}">
                <a16:creationId xmlns:a16="http://schemas.microsoft.com/office/drawing/2014/main" id="{5994AE59-AD85-4F5A-B8C8-110B83D9A54D}"/>
              </a:ext>
            </a:extLst>
          </p:cNvPr>
          <p:cNvSpPr>
            <a:spLocks noChangeAspect="1" noChangeArrowheads="1"/>
          </p:cNvSpPr>
          <p:nvPr/>
        </p:nvSpPr>
        <p:spPr bwMode="auto">
          <a:xfrm>
            <a:off x="5943599" y="-389965"/>
            <a:ext cx="3971365" cy="39713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E756405E-FCB0-410D-8A2D-8B766C9D8583}"/>
              </a:ext>
            </a:extLst>
          </p:cNvPr>
          <p:cNvPicPr>
            <a:picLocks noChangeAspect="1"/>
          </p:cNvPicPr>
          <p:nvPr/>
        </p:nvPicPr>
        <p:blipFill>
          <a:blip r:embed="rId2"/>
          <a:stretch>
            <a:fillRect/>
          </a:stretch>
        </p:blipFill>
        <p:spPr>
          <a:xfrm>
            <a:off x="2181486" y="1321874"/>
            <a:ext cx="6896698" cy="3366667"/>
          </a:xfrm>
          <a:prstGeom prst="rect">
            <a:avLst/>
          </a:prstGeom>
        </p:spPr>
      </p:pic>
      <p:sp>
        <p:nvSpPr>
          <p:cNvPr id="10" name="Rectangle 9">
            <a:extLst>
              <a:ext uri="{FF2B5EF4-FFF2-40B4-BE49-F238E27FC236}">
                <a16:creationId xmlns:a16="http://schemas.microsoft.com/office/drawing/2014/main" id="{2EFD9E7B-E39A-4161-8FD7-FFA78FAD348B}"/>
              </a:ext>
            </a:extLst>
          </p:cNvPr>
          <p:cNvSpPr/>
          <p:nvPr/>
        </p:nvSpPr>
        <p:spPr>
          <a:xfrm>
            <a:off x="2259106" y="4877724"/>
            <a:ext cx="6096000" cy="1754326"/>
          </a:xfrm>
          <a:prstGeom prst="rect">
            <a:avLst/>
          </a:prstGeom>
        </p:spPr>
        <p:txBody>
          <a:bodyPr>
            <a:spAutoFit/>
          </a:bodyPr>
          <a:lstStyle/>
          <a:p>
            <a:pPr marL="285750" indent="-285750">
              <a:buFont typeface="Arial" panose="020B0604020202020204" pitchFamily="34" charset="0"/>
              <a:buChar char="•"/>
            </a:pPr>
            <a:r>
              <a:rPr lang="en-IN" dirty="0"/>
              <a:t>Data Collection from healthcare datasets (Kaggle)</a:t>
            </a:r>
          </a:p>
          <a:p>
            <a:pPr marL="285750" indent="-285750">
              <a:buFont typeface="Arial" panose="020B0604020202020204" pitchFamily="34" charset="0"/>
              <a:buChar char="•"/>
            </a:pPr>
            <a:r>
              <a:rPr lang="en-IN" dirty="0"/>
              <a:t>Storage using Hadoop (HDFS)</a:t>
            </a:r>
          </a:p>
          <a:p>
            <a:pPr marL="285750" indent="-285750">
              <a:buFont typeface="Arial" panose="020B0604020202020204" pitchFamily="34" charset="0"/>
              <a:buChar char="•"/>
            </a:pPr>
            <a:r>
              <a:rPr lang="en-IN" dirty="0"/>
              <a:t>Processing using Apache Spark</a:t>
            </a:r>
          </a:p>
          <a:p>
            <a:pPr marL="285750" indent="-285750">
              <a:buFont typeface="Arial" panose="020B0604020202020204" pitchFamily="34" charset="0"/>
              <a:buChar char="•"/>
            </a:pPr>
            <a:r>
              <a:rPr lang="en-IN" dirty="0"/>
              <a:t>Prediction using Machine Learning (Python)</a:t>
            </a:r>
          </a:p>
          <a:p>
            <a:pPr marL="285750" indent="-285750">
              <a:buFont typeface="Arial" panose="020B0604020202020204" pitchFamily="34" charset="0"/>
              <a:buChar char="•"/>
            </a:pPr>
            <a:r>
              <a:rPr lang="en-IN" dirty="0"/>
              <a:t>Visualization using Dashboard</a:t>
            </a:r>
          </a:p>
        </p:txBody>
      </p:sp>
    </p:spTree>
    <p:extLst>
      <p:ext uri="{BB962C8B-B14F-4D97-AF65-F5344CB8AC3E}">
        <p14:creationId xmlns:p14="http://schemas.microsoft.com/office/powerpoint/2010/main" val="3013775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7FA1E-B7BE-4384-9F1E-B6FFD444EA28}"/>
              </a:ext>
            </a:extLst>
          </p:cNvPr>
          <p:cNvSpPr>
            <a:spLocks noGrp="1"/>
          </p:cNvSpPr>
          <p:nvPr>
            <p:ph type="title"/>
          </p:nvPr>
        </p:nvSpPr>
        <p:spPr/>
        <p:txBody>
          <a:bodyPr/>
          <a:lstStyle/>
          <a:p>
            <a:r>
              <a:rPr lang="en-IN" dirty="0"/>
              <a:t>Results</a:t>
            </a:r>
          </a:p>
        </p:txBody>
      </p:sp>
      <p:pic>
        <p:nvPicPr>
          <p:cNvPr id="4" name="Content Placeholder 3">
            <a:extLst>
              <a:ext uri="{FF2B5EF4-FFF2-40B4-BE49-F238E27FC236}">
                <a16:creationId xmlns:a16="http://schemas.microsoft.com/office/drawing/2014/main" id="{CACC32A6-FBF4-4806-8BBF-0569420AB416}"/>
              </a:ext>
            </a:extLst>
          </p:cNvPr>
          <p:cNvPicPr>
            <a:picLocks noGrp="1" noChangeAspect="1"/>
          </p:cNvPicPr>
          <p:nvPr>
            <p:ph idx="1"/>
          </p:nvPr>
        </p:nvPicPr>
        <p:blipFill>
          <a:blip r:embed="rId2"/>
          <a:stretch>
            <a:fillRect/>
          </a:stretch>
        </p:blipFill>
        <p:spPr>
          <a:xfrm>
            <a:off x="2432235" y="1539875"/>
            <a:ext cx="7561920" cy="3778250"/>
          </a:xfrm>
          <a:prstGeom prst="rect">
            <a:avLst/>
          </a:prstGeom>
        </p:spPr>
      </p:pic>
    </p:spTree>
    <p:extLst>
      <p:ext uri="{BB962C8B-B14F-4D97-AF65-F5344CB8AC3E}">
        <p14:creationId xmlns:p14="http://schemas.microsoft.com/office/powerpoint/2010/main" val="3902382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3E3B75-A237-4142-90D2-15466F03669C}"/>
              </a:ext>
            </a:extLst>
          </p:cNvPr>
          <p:cNvPicPr>
            <a:picLocks noChangeAspect="1"/>
          </p:cNvPicPr>
          <p:nvPr/>
        </p:nvPicPr>
        <p:blipFill>
          <a:blip r:embed="rId2"/>
          <a:stretch>
            <a:fillRect/>
          </a:stretch>
        </p:blipFill>
        <p:spPr>
          <a:xfrm>
            <a:off x="1682761" y="929424"/>
            <a:ext cx="9728649" cy="4574906"/>
          </a:xfrm>
          <a:prstGeom prst="rect">
            <a:avLst/>
          </a:prstGeom>
        </p:spPr>
      </p:pic>
    </p:spTree>
    <p:extLst>
      <p:ext uri="{BB962C8B-B14F-4D97-AF65-F5344CB8AC3E}">
        <p14:creationId xmlns:p14="http://schemas.microsoft.com/office/powerpoint/2010/main" val="4057578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8022742-FC20-4DB9-B1FF-19C2B14C2AD7}"/>
              </a:ext>
            </a:extLst>
          </p:cNvPr>
          <p:cNvPicPr>
            <a:picLocks noChangeAspect="1"/>
          </p:cNvPicPr>
          <p:nvPr/>
        </p:nvPicPr>
        <p:blipFill>
          <a:blip r:embed="rId2"/>
          <a:stretch>
            <a:fillRect/>
          </a:stretch>
        </p:blipFill>
        <p:spPr>
          <a:xfrm>
            <a:off x="2366682" y="777010"/>
            <a:ext cx="9977502" cy="5028488"/>
          </a:xfrm>
          <a:prstGeom prst="rect">
            <a:avLst/>
          </a:prstGeom>
        </p:spPr>
      </p:pic>
    </p:spTree>
    <p:extLst>
      <p:ext uri="{BB962C8B-B14F-4D97-AF65-F5344CB8AC3E}">
        <p14:creationId xmlns:p14="http://schemas.microsoft.com/office/powerpoint/2010/main" val="1897834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D7C8D-A97D-4EF1-968F-8C1BE33A5A8B}"/>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F53ACA75-DED6-4E3D-A2E6-C7170541D5DB}"/>
              </a:ext>
            </a:extLst>
          </p:cNvPr>
          <p:cNvSpPr>
            <a:spLocks noGrp="1"/>
          </p:cNvSpPr>
          <p:nvPr>
            <p:ph idx="1"/>
          </p:nvPr>
        </p:nvSpPr>
        <p:spPr/>
        <p:txBody>
          <a:bodyPr/>
          <a:lstStyle/>
          <a:p>
            <a:r>
              <a:rPr lang="en-US" dirty="0"/>
              <a:t>IEEE Paper</a:t>
            </a:r>
          </a:p>
          <a:p>
            <a:pPr marL="0" indent="0">
              <a:buNone/>
            </a:pPr>
            <a:r>
              <a:rPr lang="en-US" dirty="0"/>
              <a:t>    </a:t>
            </a:r>
            <a:r>
              <a:rPr lang="en-US" dirty="0">
                <a:hlinkClick r:id="rId2"/>
              </a:rPr>
              <a:t> Big Data Analytics for Healthcare</a:t>
            </a:r>
            <a:endParaRPr lang="en-US" dirty="0"/>
          </a:p>
          <a:p>
            <a:r>
              <a:rPr lang="en-US" dirty="0"/>
              <a:t>The Use of Big Data Analytics in Healthcare </a:t>
            </a:r>
            <a:r>
              <a:rPr lang="en-IN" dirty="0"/>
              <a:t>– Journal of Big Data</a:t>
            </a:r>
          </a:p>
          <a:p>
            <a:pPr marL="0" indent="0">
              <a:buNone/>
            </a:pPr>
            <a:r>
              <a:rPr lang="en-IN" dirty="0"/>
              <a:t>     </a:t>
            </a:r>
            <a:r>
              <a:rPr lang="en-IN" dirty="0">
                <a:hlinkClick r:id="rId3"/>
              </a:rPr>
              <a:t>Journal Article</a:t>
            </a:r>
            <a:endParaRPr lang="en-IN" dirty="0"/>
          </a:p>
          <a:p>
            <a:r>
              <a:rPr lang="en-US" dirty="0"/>
              <a:t>Big Data Analytics in Healthcare: Data Sources, Tools, Challenges (2024)</a:t>
            </a:r>
          </a:p>
          <a:p>
            <a:pPr marL="0" indent="0">
              <a:buNone/>
            </a:pPr>
            <a:r>
              <a:rPr lang="en-US" dirty="0"/>
              <a:t>      </a:t>
            </a:r>
            <a:r>
              <a:rPr lang="en-US" dirty="0">
                <a:hlinkClick r:id="rId4"/>
              </a:rPr>
              <a:t>Reference</a:t>
            </a:r>
            <a:endParaRPr lang="en-IN" dirty="0"/>
          </a:p>
        </p:txBody>
      </p:sp>
    </p:spTree>
    <p:extLst>
      <p:ext uri="{BB962C8B-B14F-4D97-AF65-F5344CB8AC3E}">
        <p14:creationId xmlns:p14="http://schemas.microsoft.com/office/powerpoint/2010/main" val="17494514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428</TotalTime>
  <Words>221</Words>
  <Application>Microsoft Office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Century Gothic</vt:lpstr>
      <vt:lpstr>Times New Roman</vt:lpstr>
      <vt:lpstr>Wingdings 3</vt:lpstr>
      <vt:lpstr>Wisp</vt:lpstr>
      <vt:lpstr>Big Data Analytics for Healthcare Industry                         Project Review - 2</vt:lpstr>
      <vt:lpstr>Introduction &amp; Motivation</vt:lpstr>
      <vt:lpstr>Objectives</vt:lpstr>
      <vt:lpstr>Literature Survey</vt:lpstr>
      <vt:lpstr>Proposed Methodology</vt:lpstr>
      <vt:lpstr>Results</vt:lpstr>
      <vt:lpstr>PowerPoint Presentation</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12</cp:revision>
  <dcterms:created xsi:type="dcterms:W3CDTF">2026-02-18T03:59:36Z</dcterms:created>
  <dcterms:modified xsi:type="dcterms:W3CDTF">2026-04-10T16:09:53Z</dcterms:modified>
</cp:coreProperties>
</file>